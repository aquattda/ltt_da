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rial Bold" panose="020B0704020202020204" pitchFamily="34" charset="0"/>
      <p:regular r:id="rId19"/>
      <p:bold r:id="rId20"/>
    </p:embeddedFont>
    <p:embeddedFont>
      <p:font typeface="Paytone One"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2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894362" y="2913384"/>
            <a:ext cx="14499273"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PHÂN TÍCH DỮ LIỆU CHAPTER 13 VÀ MỤC LỤC A</a:t>
            </a:r>
          </a:p>
        </p:txBody>
      </p:sp>
      <p:sp>
        <p:nvSpPr>
          <p:cNvPr id="4" name="TextBox 4"/>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5" name="TextBox 5"/>
          <p:cNvSpPr txBox="1"/>
          <p:nvPr/>
        </p:nvSpPr>
        <p:spPr>
          <a:xfrm>
            <a:off x="4864205" y="5076825"/>
            <a:ext cx="8559589" cy="580392"/>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Paytone One"/>
                <a:ea typeface="Paytone One"/>
                <a:cs typeface="Paytone One"/>
                <a:sym typeface="Paytone One"/>
              </a:rPr>
              <a:t>Sinh viên thực hiện: Lương Thanh Tuấn</a:t>
            </a:r>
          </a:p>
        </p:txBody>
      </p:sp>
      <p:sp>
        <p:nvSpPr>
          <p:cNvPr id="6" name="TextBox 6"/>
          <p:cNvSpPr txBox="1"/>
          <p:nvPr/>
        </p:nvSpPr>
        <p:spPr>
          <a:xfrm>
            <a:off x="4947936" y="6466842"/>
            <a:ext cx="8392128" cy="580392"/>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Paytone One"/>
                <a:ea typeface="Paytone One"/>
                <a:cs typeface="Paytone One"/>
                <a:sym typeface="Paytone One"/>
              </a:rPr>
              <a:t>Giảng viên hướng dẫn : TS.Đỗ Ngọc Tài</a:t>
            </a:r>
          </a:p>
        </p:txBody>
      </p:sp>
      <p:sp>
        <p:nvSpPr>
          <p:cNvPr id="7" name="TextBox 7"/>
          <p:cNvSpPr txBox="1"/>
          <p:nvPr/>
        </p:nvSpPr>
        <p:spPr>
          <a:xfrm>
            <a:off x="7472680" y="9210675"/>
            <a:ext cx="3423920" cy="344453"/>
          </a:xfrm>
          <a:prstGeom prst="rect">
            <a:avLst/>
          </a:prstGeom>
        </p:spPr>
        <p:txBody>
          <a:bodyPr wrap="square" lIns="0" tIns="0" rIns="0" bIns="0" rtlCol="0" anchor="t">
            <a:spAutoFit/>
          </a:bodyPr>
          <a:lstStyle/>
          <a:p>
            <a:pPr algn="ctr">
              <a:lnSpc>
                <a:spcPts val="2940"/>
              </a:lnSpc>
              <a:spcBef>
                <a:spcPct val="0"/>
              </a:spcBef>
            </a:pPr>
            <a:r>
              <a:rPr lang="en-US" sz="2100" dirty="0">
                <a:solidFill>
                  <a:srgbClr val="000000"/>
                </a:solidFill>
                <a:latin typeface="Paytone One"/>
                <a:ea typeface="Paytone One"/>
                <a:cs typeface="Paytone One"/>
                <a:sym typeface="Paytone One"/>
              </a:rPr>
              <a:t>TP. HỒ CHÍ MINH, 10/2025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4" name="TextBox 4"/>
          <p:cNvSpPr txBox="1"/>
          <p:nvPr/>
        </p:nvSpPr>
        <p:spPr>
          <a:xfrm>
            <a:off x="6634513" y="933450"/>
            <a:ext cx="5018973" cy="854075"/>
          </a:xfrm>
          <a:prstGeom prst="rect">
            <a:avLst/>
          </a:prstGeom>
        </p:spPr>
        <p:txBody>
          <a:bodyPr lIns="0" tIns="0" rIns="0" bIns="0" rtlCol="0" anchor="t">
            <a:spAutoFit/>
          </a:bodyPr>
          <a:lstStyle/>
          <a:p>
            <a:pPr algn="ctr">
              <a:lnSpc>
                <a:spcPts val="7000"/>
              </a:lnSpc>
              <a:spcBef>
                <a:spcPct val="0"/>
              </a:spcBef>
            </a:pPr>
            <a:r>
              <a:rPr lang="en-US" sz="5000">
                <a:solidFill>
                  <a:srgbClr val="000000"/>
                </a:solidFill>
                <a:latin typeface="Paytone One"/>
                <a:ea typeface="Paytone One"/>
                <a:cs typeface="Paytone One"/>
                <a:sym typeface="Paytone One"/>
              </a:rPr>
              <a:t>Nội dung chính</a:t>
            </a:r>
          </a:p>
        </p:txBody>
      </p:sp>
      <p:sp>
        <p:nvSpPr>
          <p:cNvPr id="5" name="TextBox 5"/>
          <p:cNvSpPr txBox="1"/>
          <p:nvPr/>
        </p:nvSpPr>
        <p:spPr>
          <a:xfrm>
            <a:off x="1028700" y="2802979"/>
            <a:ext cx="7291666" cy="580392"/>
          </a:xfrm>
          <a:prstGeom prst="rect">
            <a:avLst/>
          </a:prstGeom>
        </p:spPr>
        <p:txBody>
          <a:bodyPr lIns="0" tIns="0" rIns="0" bIns="0" rtlCol="0" anchor="t">
            <a:spAutoFit/>
          </a:bodyPr>
          <a:lstStyle/>
          <a:p>
            <a:pPr algn="ctr">
              <a:lnSpc>
                <a:spcPts val="4759"/>
              </a:lnSpc>
            </a:pPr>
            <a:r>
              <a:rPr lang="en-US" sz="3399">
                <a:solidFill>
                  <a:srgbClr val="000000"/>
                </a:solidFill>
                <a:latin typeface="Paytone One"/>
                <a:ea typeface="Paytone One"/>
                <a:cs typeface="Paytone One"/>
                <a:sym typeface="Paytone One"/>
              </a:rPr>
              <a:t>1. Giới thiệu tổng quát về dữ liệu</a:t>
            </a:r>
          </a:p>
        </p:txBody>
      </p:sp>
      <p:sp>
        <p:nvSpPr>
          <p:cNvPr id="6" name="AutoShape 6"/>
          <p:cNvSpPr/>
          <p:nvPr/>
        </p:nvSpPr>
        <p:spPr>
          <a:xfrm>
            <a:off x="1028700" y="4060077"/>
            <a:ext cx="16230600" cy="0"/>
          </a:xfrm>
          <a:prstGeom prst="line">
            <a:avLst/>
          </a:prstGeom>
          <a:ln w="66675" cap="flat">
            <a:solidFill>
              <a:srgbClr val="000000"/>
            </a:solidFill>
            <a:prstDash val="sysDash"/>
            <a:headEnd type="diamond" w="lg" len="lg"/>
            <a:tailEnd type="oval" w="lg" len="lg"/>
          </a:ln>
        </p:spPr>
        <p:txBody>
          <a:bodyPr/>
          <a:lstStyle/>
          <a:p>
            <a:endParaRPr lang="en-US"/>
          </a:p>
        </p:txBody>
      </p:sp>
      <p:sp>
        <p:nvSpPr>
          <p:cNvPr id="7" name="AutoShape 7"/>
          <p:cNvSpPr/>
          <p:nvPr/>
        </p:nvSpPr>
        <p:spPr>
          <a:xfrm>
            <a:off x="1028700" y="5935869"/>
            <a:ext cx="16230600" cy="0"/>
          </a:xfrm>
          <a:prstGeom prst="line">
            <a:avLst/>
          </a:prstGeom>
          <a:ln w="66675" cap="flat">
            <a:solidFill>
              <a:srgbClr val="000000"/>
            </a:solidFill>
            <a:prstDash val="sysDash"/>
            <a:headEnd type="diamond" w="lg" len="lg"/>
            <a:tailEnd type="oval" w="lg" len="lg"/>
          </a:ln>
        </p:spPr>
        <p:txBody>
          <a:bodyPr/>
          <a:lstStyle/>
          <a:p>
            <a:endParaRPr lang="en-US"/>
          </a:p>
        </p:txBody>
      </p:sp>
      <p:sp>
        <p:nvSpPr>
          <p:cNvPr id="8" name="TextBox 8"/>
          <p:cNvSpPr txBox="1"/>
          <p:nvPr/>
        </p:nvSpPr>
        <p:spPr>
          <a:xfrm>
            <a:off x="1028700" y="4674440"/>
            <a:ext cx="5306050" cy="580392"/>
          </a:xfrm>
          <a:prstGeom prst="rect">
            <a:avLst/>
          </a:prstGeom>
        </p:spPr>
        <p:txBody>
          <a:bodyPr lIns="0" tIns="0" rIns="0" bIns="0" rtlCol="0" anchor="t">
            <a:spAutoFit/>
          </a:bodyPr>
          <a:lstStyle/>
          <a:p>
            <a:pPr algn="ctr">
              <a:lnSpc>
                <a:spcPts val="4759"/>
              </a:lnSpc>
            </a:pPr>
            <a:r>
              <a:rPr lang="en-US" sz="3399">
                <a:solidFill>
                  <a:srgbClr val="000000"/>
                </a:solidFill>
                <a:latin typeface="Paytone One"/>
                <a:ea typeface="Paytone One"/>
                <a:cs typeface="Paytone One"/>
                <a:sym typeface="Paytone One"/>
              </a:rPr>
              <a:t>2. Phân tích khám phá</a:t>
            </a:r>
          </a:p>
        </p:txBody>
      </p:sp>
      <p:sp>
        <p:nvSpPr>
          <p:cNvPr id="9" name="TextBox 9"/>
          <p:cNvSpPr txBox="1"/>
          <p:nvPr/>
        </p:nvSpPr>
        <p:spPr>
          <a:xfrm>
            <a:off x="1028700" y="6550231"/>
            <a:ext cx="2818050" cy="580392"/>
          </a:xfrm>
          <a:prstGeom prst="rect">
            <a:avLst/>
          </a:prstGeom>
        </p:spPr>
        <p:txBody>
          <a:bodyPr lIns="0" tIns="0" rIns="0" bIns="0" rtlCol="0" anchor="t">
            <a:spAutoFit/>
          </a:bodyPr>
          <a:lstStyle/>
          <a:p>
            <a:pPr algn="ctr">
              <a:lnSpc>
                <a:spcPts val="4759"/>
              </a:lnSpc>
            </a:pPr>
            <a:r>
              <a:rPr lang="en-US" sz="3399">
                <a:solidFill>
                  <a:srgbClr val="000000"/>
                </a:solidFill>
                <a:latin typeface="Paytone One"/>
                <a:ea typeface="Paytone One"/>
                <a:cs typeface="Paytone One"/>
                <a:sym typeface="Paytone One"/>
              </a:rPr>
              <a:t>3. Kết luận</a:t>
            </a:r>
          </a:p>
        </p:txBody>
      </p:sp>
      <p:sp>
        <p:nvSpPr>
          <p:cNvPr id="10" name="AutoShape 10"/>
          <p:cNvSpPr/>
          <p:nvPr/>
        </p:nvSpPr>
        <p:spPr>
          <a:xfrm>
            <a:off x="1028700" y="7811660"/>
            <a:ext cx="16230600" cy="0"/>
          </a:xfrm>
          <a:prstGeom prst="line">
            <a:avLst/>
          </a:prstGeom>
          <a:ln w="66675" cap="flat">
            <a:solidFill>
              <a:srgbClr val="000000"/>
            </a:solidFill>
            <a:prstDash val="sysDash"/>
            <a:headEnd type="diamond" w="lg" len="lg"/>
            <a:tailEnd type="oval" w="lg" len="lg"/>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13258683" y="2171584"/>
            <a:ext cx="5029317" cy="5029317"/>
          </a:xfrm>
          <a:custGeom>
            <a:avLst/>
            <a:gdLst/>
            <a:ahLst/>
            <a:cxnLst/>
            <a:rect l="l" t="t" r="r" b="b"/>
            <a:pathLst>
              <a:path w="5029317" h="5029317">
                <a:moveTo>
                  <a:pt x="0" y="0"/>
                </a:moveTo>
                <a:lnTo>
                  <a:pt x="5029317" y="0"/>
                </a:lnTo>
                <a:lnTo>
                  <a:pt x="5029317" y="5029317"/>
                </a:lnTo>
                <a:lnTo>
                  <a:pt x="0" y="502931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5" name="TextBox 5"/>
          <p:cNvSpPr txBox="1"/>
          <p:nvPr/>
        </p:nvSpPr>
        <p:spPr>
          <a:xfrm>
            <a:off x="4050821" y="933450"/>
            <a:ext cx="10274779"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1. </a:t>
            </a:r>
            <a:r>
              <a:rPr lang="en-US" sz="5000" dirty="0" err="1">
                <a:solidFill>
                  <a:srgbClr val="000000"/>
                </a:solidFill>
                <a:latin typeface="Paytone One"/>
                <a:ea typeface="Paytone One"/>
                <a:cs typeface="Paytone One"/>
                <a:sym typeface="Paytone One"/>
              </a:rPr>
              <a:t>Giới</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thiệu</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tổng</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quát</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về</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dữ</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liệu</a:t>
            </a:r>
            <a:endParaRPr lang="en-US" sz="5000" dirty="0">
              <a:solidFill>
                <a:srgbClr val="000000"/>
              </a:solidFill>
              <a:latin typeface="Paytone One"/>
              <a:ea typeface="Paytone One"/>
              <a:cs typeface="Paytone One"/>
              <a:sym typeface="Paytone One"/>
            </a:endParaRPr>
          </a:p>
        </p:txBody>
      </p:sp>
      <p:sp>
        <p:nvSpPr>
          <p:cNvPr id="6" name="TextBox 6"/>
          <p:cNvSpPr txBox="1"/>
          <p:nvPr/>
        </p:nvSpPr>
        <p:spPr>
          <a:xfrm>
            <a:off x="1028700" y="2562167"/>
            <a:ext cx="12766059" cy="4181476"/>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Bitly data from 1.USA</a:t>
            </a:r>
          </a:p>
          <a:p>
            <a:pPr marL="647689" lvl="1" indent="-323844" algn="l">
              <a:lnSpc>
                <a:spcPts val="4199"/>
              </a:lnSpc>
              <a:buFont typeface="Arial"/>
              <a:buChar char="•"/>
            </a:pPr>
            <a:r>
              <a:rPr lang="en-US" sz="2999">
                <a:solidFill>
                  <a:srgbClr val="000000"/>
                </a:solidFill>
                <a:latin typeface="Arial"/>
                <a:ea typeface="Arial"/>
                <a:cs typeface="Arial"/>
                <a:sym typeface="Arial"/>
              </a:rPr>
              <a:t> Tập dữ liệu này có nguồn gốc từ dịch vụ rút gọn URL Bitly. Vào năm 2011, Bitly đã hợp tác với trang web của chính phủ Hoa Kỳ là USA.gov để cung cấp nguồn cấp dữ liệu ẩn danh thu thập từ những người dùng rút gọn các liên kết kết thúc bằng .gov hoặc .mil. </a:t>
            </a:r>
          </a:p>
          <a:p>
            <a:pPr marL="647689" lvl="1" indent="-323844" algn="l">
              <a:lnSpc>
                <a:spcPts val="4199"/>
              </a:lnSpc>
              <a:buFont typeface="Arial"/>
              <a:buChar char="•"/>
            </a:pPr>
            <a:r>
              <a:rPr lang="en-US" sz="2999">
                <a:solidFill>
                  <a:srgbClr val="000000"/>
                </a:solidFill>
                <a:latin typeface="Arial"/>
                <a:ea typeface="Arial"/>
                <a:cs typeface="Arial"/>
                <a:sym typeface="Arial"/>
              </a:rPr>
              <a:t>Dữ liệu mẫu được bảo tồn cho ví dụ của sách là một trong những tệp dữ liệu có sẵn dưới dạng ảnh chụp nhanh hàng giờ (hourly snapshots).</a:t>
            </a:r>
          </a:p>
          <a:p>
            <a:pPr algn="l">
              <a:lnSpc>
                <a:spcPts val="4199"/>
              </a:lnSpc>
            </a:pPr>
            <a:endParaRPr lang="en-US" sz="2999">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12116345" y="2450797"/>
            <a:ext cx="5752749" cy="6356958"/>
          </a:xfrm>
          <a:custGeom>
            <a:avLst/>
            <a:gdLst/>
            <a:ahLst/>
            <a:cxnLst/>
            <a:rect l="l" t="t" r="r" b="b"/>
            <a:pathLst>
              <a:path w="5752749" h="6356958">
                <a:moveTo>
                  <a:pt x="0" y="0"/>
                </a:moveTo>
                <a:lnTo>
                  <a:pt x="5752749" y="0"/>
                </a:lnTo>
                <a:lnTo>
                  <a:pt x="5752749" y="6356958"/>
                </a:lnTo>
                <a:lnTo>
                  <a:pt x="0" y="6356958"/>
                </a:lnTo>
                <a:lnTo>
                  <a:pt x="0" y="0"/>
                </a:lnTo>
                <a:close/>
              </a:path>
            </a:pathLst>
          </a:custGeom>
          <a:blipFill>
            <a:blip r:embed="rId3"/>
            <a:stretch>
              <a:fillRect t="-6648" b="-6648"/>
            </a:stretch>
          </a:blipFill>
        </p:spPr>
        <p:txBody>
          <a:bodyPr/>
          <a:lstStyle/>
          <a:p>
            <a:endParaRPr lang="en-US"/>
          </a:p>
        </p:txBody>
      </p:sp>
      <p:sp>
        <p:nvSpPr>
          <p:cNvPr id="4" name="TextBox 4"/>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5" name="TextBox 5"/>
          <p:cNvSpPr txBox="1"/>
          <p:nvPr/>
        </p:nvSpPr>
        <p:spPr>
          <a:xfrm>
            <a:off x="4050821" y="933450"/>
            <a:ext cx="10274779"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1. </a:t>
            </a:r>
            <a:r>
              <a:rPr lang="en-US" sz="5000" dirty="0" err="1">
                <a:solidFill>
                  <a:srgbClr val="000000"/>
                </a:solidFill>
                <a:latin typeface="Paytone One"/>
                <a:ea typeface="Paytone One"/>
                <a:cs typeface="Paytone One"/>
                <a:sym typeface="Paytone One"/>
              </a:rPr>
              <a:t>Giới</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thiệu</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tổng</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quát</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về</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dữ</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liệu</a:t>
            </a:r>
            <a:endParaRPr lang="en-US" sz="5000" dirty="0">
              <a:solidFill>
                <a:srgbClr val="000000"/>
              </a:solidFill>
              <a:latin typeface="Paytone One"/>
              <a:ea typeface="Paytone One"/>
              <a:cs typeface="Paytone One"/>
              <a:sym typeface="Paytone One"/>
            </a:endParaRPr>
          </a:p>
        </p:txBody>
      </p:sp>
      <p:sp>
        <p:nvSpPr>
          <p:cNvPr id="6" name="TextBox 6"/>
          <p:cNvSpPr txBox="1"/>
          <p:nvPr/>
        </p:nvSpPr>
        <p:spPr>
          <a:xfrm>
            <a:off x="1028700" y="4591049"/>
            <a:ext cx="10769545" cy="1038226"/>
          </a:xfrm>
          <a:prstGeom prst="rect">
            <a:avLst/>
          </a:prstGeom>
        </p:spPr>
        <p:txBody>
          <a:bodyPr lIns="0" tIns="0" rIns="0" bIns="0" rtlCol="0" anchor="t">
            <a:spAutoFit/>
          </a:bodyPr>
          <a:lstStyle/>
          <a:p>
            <a:pPr marL="647689" lvl="1" indent="-323844" algn="l">
              <a:lnSpc>
                <a:spcPts val="4199"/>
              </a:lnSpc>
              <a:buFont typeface="Arial"/>
              <a:buChar char="•"/>
            </a:pPr>
            <a:r>
              <a:rPr lang="en-US" sz="2999">
                <a:solidFill>
                  <a:srgbClr val="000000"/>
                </a:solidFill>
                <a:latin typeface="Arial"/>
                <a:ea typeface="Arial"/>
                <a:cs typeface="Arial"/>
                <a:sym typeface="Arial"/>
              </a:rPr>
              <a:t> Bộ dữ liệu gồm 18 cột và 3560 dòng trong đó toàn bộ cột đều missing values.</a:t>
            </a:r>
          </a:p>
        </p:txBody>
      </p:sp>
      <p:sp>
        <p:nvSpPr>
          <p:cNvPr id="7" name="TextBox 7"/>
          <p:cNvSpPr txBox="1"/>
          <p:nvPr/>
        </p:nvSpPr>
        <p:spPr>
          <a:xfrm>
            <a:off x="1028700" y="2337370"/>
            <a:ext cx="4229100"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Bitly</a:t>
            </a:r>
            <a:r>
              <a:rPr lang="en-US" sz="3000" dirty="0">
                <a:solidFill>
                  <a:srgbClr val="000000"/>
                </a:solidFill>
                <a:latin typeface="Paytone One"/>
                <a:ea typeface="Paytone One"/>
                <a:cs typeface="Paytone One"/>
                <a:sym typeface="Paytone One"/>
              </a:rPr>
              <a:t> data from 1.USA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1267642" y="6053862"/>
            <a:ext cx="6714841" cy="4031756"/>
          </a:xfrm>
          <a:custGeom>
            <a:avLst/>
            <a:gdLst/>
            <a:ahLst/>
            <a:cxnLst/>
            <a:rect l="l" t="t" r="r" b="b"/>
            <a:pathLst>
              <a:path w="6714841" h="4031756">
                <a:moveTo>
                  <a:pt x="0" y="0"/>
                </a:moveTo>
                <a:lnTo>
                  <a:pt x="6714841" y="0"/>
                </a:lnTo>
                <a:lnTo>
                  <a:pt x="6714841" y="4031756"/>
                </a:lnTo>
                <a:lnTo>
                  <a:pt x="0" y="4031756"/>
                </a:lnTo>
                <a:lnTo>
                  <a:pt x="0" y="0"/>
                </a:lnTo>
                <a:close/>
              </a:path>
            </a:pathLst>
          </a:custGeom>
          <a:blipFill>
            <a:blip r:embed="rId3"/>
            <a:stretch>
              <a:fillRect t="-3191" b="-3191"/>
            </a:stretch>
          </a:blipFill>
        </p:spPr>
        <p:txBody>
          <a:bodyPr/>
          <a:lstStyle/>
          <a:p>
            <a:endParaRPr lang="en-US"/>
          </a:p>
        </p:txBody>
      </p:sp>
      <p:sp>
        <p:nvSpPr>
          <p:cNvPr id="4" name="Freeform 4"/>
          <p:cNvSpPr/>
          <p:nvPr/>
        </p:nvSpPr>
        <p:spPr>
          <a:xfrm>
            <a:off x="9657428" y="5907795"/>
            <a:ext cx="8397634" cy="4177823"/>
          </a:xfrm>
          <a:custGeom>
            <a:avLst/>
            <a:gdLst/>
            <a:ahLst/>
            <a:cxnLst/>
            <a:rect l="l" t="t" r="r" b="b"/>
            <a:pathLst>
              <a:path w="8397634" h="4177823">
                <a:moveTo>
                  <a:pt x="0" y="0"/>
                </a:moveTo>
                <a:lnTo>
                  <a:pt x="8397634" y="0"/>
                </a:lnTo>
                <a:lnTo>
                  <a:pt x="8397634" y="4177823"/>
                </a:lnTo>
                <a:lnTo>
                  <a:pt x="0" y="4177823"/>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350979"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1. </a:t>
            </a:r>
            <a:r>
              <a:rPr lang="en-US" sz="5000" dirty="0" err="1">
                <a:solidFill>
                  <a:srgbClr val="000000"/>
                </a:solidFill>
                <a:latin typeface="Paytone One"/>
                <a:ea typeface="Paytone One"/>
                <a:cs typeface="Paytone One"/>
                <a:sym typeface="Paytone One"/>
              </a:rPr>
              <a:t>Giới</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thiệu</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tổng</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quát</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về</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dữ</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liệu</a:t>
            </a:r>
            <a:endParaRPr lang="en-US" sz="5000" dirty="0">
              <a:solidFill>
                <a:srgbClr val="000000"/>
              </a:solidFill>
              <a:latin typeface="Paytone One"/>
              <a:ea typeface="Paytone One"/>
              <a:cs typeface="Paytone One"/>
              <a:sym typeface="Paytone One"/>
            </a:endParaRPr>
          </a:p>
        </p:txBody>
      </p:sp>
      <p:sp>
        <p:nvSpPr>
          <p:cNvPr id="7" name="TextBox 7"/>
          <p:cNvSpPr txBox="1"/>
          <p:nvPr/>
        </p:nvSpPr>
        <p:spPr>
          <a:xfrm>
            <a:off x="1267642" y="3077736"/>
            <a:ext cx="7580622" cy="2609851"/>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Toàn bộ dữ liệu thì America/New_York có tới 1251 giá trị trong múi giờ, tiếp đến là giá trị không xác định (521) America/Chicago (400), America/Los_Angeles (382) và America/Denver (191).</a:t>
            </a:r>
          </a:p>
        </p:txBody>
      </p:sp>
      <p:sp>
        <p:nvSpPr>
          <p:cNvPr id="8" name="TextBox 8"/>
          <p:cNvSpPr txBox="1"/>
          <p:nvPr/>
        </p:nvSpPr>
        <p:spPr>
          <a:xfrm>
            <a:off x="1267642" y="2263786"/>
            <a:ext cx="4218758"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Bitly</a:t>
            </a:r>
            <a:r>
              <a:rPr lang="en-US" sz="3000" dirty="0">
                <a:solidFill>
                  <a:srgbClr val="000000"/>
                </a:solidFill>
                <a:latin typeface="Paytone One"/>
                <a:ea typeface="Paytone One"/>
                <a:cs typeface="Paytone One"/>
                <a:sym typeface="Paytone One"/>
              </a:rPr>
              <a:t> data from 1.USA</a:t>
            </a:r>
          </a:p>
        </p:txBody>
      </p:sp>
      <p:sp>
        <p:nvSpPr>
          <p:cNvPr id="9" name="TextBox 9"/>
          <p:cNvSpPr txBox="1"/>
          <p:nvPr/>
        </p:nvSpPr>
        <p:spPr>
          <a:xfrm>
            <a:off x="10192129" y="2711461"/>
            <a:ext cx="7580622" cy="3133726"/>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Sau khi tách cột a (user-agent) cho thấy rằng có tới 2594 người sử dụng Mozzilla/5.0 và Mozilla/4.0 (601) điều này cho thấy Mozilla được ưu chuộn nhất so với các trình duyệt còn lại.</a:t>
            </a:r>
          </a:p>
          <a:p>
            <a:pPr algn="l">
              <a:lnSpc>
                <a:spcPts val="4199"/>
              </a:lnSpc>
            </a:pPr>
            <a:endParaRPr lang="en-US" sz="2999" b="1">
              <a:solidFill>
                <a:srgbClr val="000000"/>
              </a:solidFill>
              <a:latin typeface="Arial Bold"/>
              <a:ea typeface="Arial Bold"/>
              <a:cs typeface="Arial Bold"/>
              <a:sym typeface="Arial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4640777" y="4114476"/>
            <a:ext cx="9245389" cy="5743698"/>
          </a:xfrm>
          <a:custGeom>
            <a:avLst/>
            <a:gdLst/>
            <a:ahLst/>
            <a:cxnLst/>
            <a:rect l="l" t="t" r="r" b="b"/>
            <a:pathLst>
              <a:path w="9245389" h="5743698">
                <a:moveTo>
                  <a:pt x="0" y="0"/>
                </a:moveTo>
                <a:lnTo>
                  <a:pt x="9245388" y="0"/>
                </a:lnTo>
                <a:lnTo>
                  <a:pt x="9245388" y="5743698"/>
                </a:lnTo>
                <a:lnTo>
                  <a:pt x="0" y="574369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5" name="TextBox 5"/>
          <p:cNvSpPr txBox="1"/>
          <p:nvPr/>
        </p:nvSpPr>
        <p:spPr>
          <a:xfrm>
            <a:off x="4050821" y="933450"/>
            <a:ext cx="10274779"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1. </a:t>
            </a:r>
            <a:r>
              <a:rPr lang="en-US" sz="5000" dirty="0" err="1">
                <a:solidFill>
                  <a:srgbClr val="000000"/>
                </a:solidFill>
                <a:latin typeface="Paytone One"/>
                <a:ea typeface="Paytone One"/>
                <a:cs typeface="Paytone One"/>
                <a:sym typeface="Paytone One"/>
              </a:rPr>
              <a:t>Giới</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thiệu</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tổng</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quát</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về</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dữ</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liệu</a:t>
            </a:r>
            <a:endParaRPr lang="en-US" sz="5000" dirty="0">
              <a:solidFill>
                <a:srgbClr val="000000"/>
              </a:solidFill>
              <a:latin typeface="Paytone One"/>
              <a:ea typeface="Paytone One"/>
              <a:cs typeface="Paytone One"/>
              <a:sym typeface="Paytone One"/>
            </a:endParaRPr>
          </a:p>
        </p:txBody>
      </p:sp>
      <p:sp>
        <p:nvSpPr>
          <p:cNvPr id="6" name="TextBox 6"/>
          <p:cNvSpPr txBox="1"/>
          <p:nvPr/>
        </p:nvSpPr>
        <p:spPr>
          <a:xfrm>
            <a:off x="1267642" y="3076250"/>
            <a:ext cx="15991658" cy="1038226"/>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Dễ dàng nhận thấy số người dùng Windows chiếm toàn bộ cho toàn bộ múi giờ.</a:t>
            </a:r>
          </a:p>
          <a:p>
            <a:pPr algn="l">
              <a:lnSpc>
                <a:spcPts val="4199"/>
              </a:lnSpc>
            </a:pPr>
            <a:endParaRPr lang="en-US" sz="2999" b="1">
              <a:solidFill>
                <a:srgbClr val="000000"/>
              </a:solidFill>
              <a:latin typeface="Arial Bold"/>
              <a:ea typeface="Arial Bold"/>
              <a:cs typeface="Arial Bold"/>
              <a:sym typeface="Arial Bold"/>
            </a:endParaRPr>
          </a:p>
        </p:txBody>
      </p:sp>
      <p:sp>
        <p:nvSpPr>
          <p:cNvPr id="7" name="TextBox 7"/>
          <p:cNvSpPr txBox="1"/>
          <p:nvPr/>
        </p:nvSpPr>
        <p:spPr>
          <a:xfrm>
            <a:off x="1267642" y="2263786"/>
            <a:ext cx="4218758"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Bitly</a:t>
            </a:r>
            <a:r>
              <a:rPr lang="en-US" sz="3000" dirty="0">
                <a:solidFill>
                  <a:srgbClr val="000000"/>
                </a:solidFill>
                <a:latin typeface="Paytone One"/>
                <a:ea typeface="Paytone One"/>
                <a:cs typeface="Paytone One"/>
                <a:sym typeface="Paytone One"/>
              </a:rPr>
              <a:t> data from 1.USA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4441869" y="4792043"/>
            <a:ext cx="9643203" cy="5207330"/>
          </a:xfrm>
          <a:custGeom>
            <a:avLst/>
            <a:gdLst/>
            <a:ahLst/>
            <a:cxnLst/>
            <a:rect l="l" t="t" r="r" b="b"/>
            <a:pathLst>
              <a:path w="9643203" h="5207330">
                <a:moveTo>
                  <a:pt x="0" y="0"/>
                </a:moveTo>
                <a:lnTo>
                  <a:pt x="9643204" y="0"/>
                </a:lnTo>
                <a:lnTo>
                  <a:pt x="9643204" y="5207329"/>
                </a:lnTo>
                <a:lnTo>
                  <a:pt x="0" y="520732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5" name="TextBox 5"/>
          <p:cNvSpPr txBox="1"/>
          <p:nvPr/>
        </p:nvSpPr>
        <p:spPr>
          <a:xfrm>
            <a:off x="4050821" y="933450"/>
            <a:ext cx="10186359" cy="854075"/>
          </a:xfrm>
          <a:prstGeom prst="rect">
            <a:avLst/>
          </a:prstGeom>
        </p:spPr>
        <p:txBody>
          <a:bodyPr lIns="0" tIns="0" rIns="0" bIns="0" rtlCol="0" anchor="t">
            <a:spAutoFit/>
          </a:bodyPr>
          <a:lstStyle/>
          <a:p>
            <a:pPr algn="ctr">
              <a:lnSpc>
                <a:spcPts val="7000"/>
              </a:lnSpc>
              <a:spcBef>
                <a:spcPct val="0"/>
              </a:spcBef>
            </a:pPr>
            <a:r>
              <a:rPr lang="en-US" sz="5000">
                <a:solidFill>
                  <a:srgbClr val="000000"/>
                </a:solidFill>
                <a:latin typeface="Paytone One"/>
                <a:ea typeface="Paytone One"/>
                <a:cs typeface="Paytone One"/>
                <a:sym typeface="Paytone One"/>
              </a:rPr>
              <a:t>2. Phân tích khám phá</a:t>
            </a:r>
          </a:p>
        </p:txBody>
      </p:sp>
      <p:sp>
        <p:nvSpPr>
          <p:cNvPr id="6" name="TextBox 6"/>
          <p:cNvSpPr txBox="1"/>
          <p:nvPr/>
        </p:nvSpPr>
        <p:spPr>
          <a:xfrm>
            <a:off x="1267642" y="3076250"/>
            <a:ext cx="15991658" cy="1562101"/>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Dựa vào ảnh này càng trực quan hơn về tần suất người sử dụng hệ điều hành windows cao gấp đôi số người không sài hệ điều hành Windows. Càng chứng minh được người dùng hệ điều hành Windows là đông đảo nhất</a:t>
            </a:r>
          </a:p>
        </p:txBody>
      </p:sp>
      <p:sp>
        <p:nvSpPr>
          <p:cNvPr id="7" name="TextBox 7"/>
          <p:cNvSpPr txBox="1"/>
          <p:nvPr/>
        </p:nvSpPr>
        <p:spPr>
          <a:xfrm>
            <a:off x="1267642" y="2263786"/>
            <a:ext cx="4218758"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Bitly</a:t>
            </a:r>
            <a:r>
              <a:rPr lang="en-US" sz="3000" dirty="0">
                <a:solidFill>
                  <a:srgbClr val="000000"/>
                </a:solidFill>
                <a:latin typeface="Paytone One"/>
                <a:ea typeface="Paytone One"/>
                <a:cs typeface="Paytone One"/>
                <a:sym typeface="Paytone One"/>
              </a:rPr>
              <a:t> data from 1.USA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5189913" y="5339505"/>
            <a:ext cx="8147117" cy="4138218"/>
          </a:xfrm>
          <a:custGeom>
            <a:avLst/>
            <a:gdLst/>
            <a:ahLst/>
            <a:cxnLst/>
            <a:rect l="l" t="t" r="r" b="b"/>
            <a:pathLst>
              <a:path w="8147117" h="4138218">
                <a:moveTo>
                  <a:pt x="0" y="0"/>
                </a:moveTo>
                <a:lnTo>
                  <a:pt x="8147116" y="0"/>
                </a:lnTo>
                <a:lnTo>
                  <a:pt x="8147116" y="4138218"/>
                </a:lnTo>
                <a:lnTo>
                  <a:pt x="0" y="413821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42" y="3076250"/>
            <a:ext cx="15991658" cy="3133726"/>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MovieLens 1M Dataset Tập dữ liệu này được cung cấp bởi GroupLens Research. Nó chứa một số bộ sưu tập dữ liệu xếp hạng phim được thu thập từ người dùng của MovieLens vào cuối những năm 1990 và đầu những năm 2000. Cụ thể, tập dữ liệu MovieLens 1M chứa một triệu xếp hạng được thu thập từ sáu nghìn người dùng trên bốn nghìn bộ phim.</a:t>
            </a:r>
          </a:p>
          <a:p>
            <a:pPr algn="l">
              <a:lnSpc>
                <a:spcPts val="4199"/>
              </a:lnSpc>
            </a:pPr>
            <a:endParaRPr lang="en-US" sz="2999" b="1">
              <a:solidFill>
                <a:srgbClr val="000000"/>
              </a:solidFill>
              <a:latin typeface="Arial Bold"/>
              <a:ea typeface="Arial Bold"/>
              <a:cs typeface="Arial Bold"/>
              <a:sym typeface="Arial Bold"/>
            </a:endParaRPr>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274779"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1. </a:t>
            </a:r>
            <a:r>
              <a:rPr lang="en-US" sz="5000" dirty="0" err="1">
                <a:solidFill>
                  <a:srgbClr val="000000"/>
                </a:solidFill>
                <a:latin typeface="Paytone One"/>
                <a:ea typeface="Paytone One"/>
                <a:cs typeface="Paytone One"/>
                <a:sym typeface="Paytone One"/>
              </a:rPr>
              <a:t>Giới</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thiệu</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tổng</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quát</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về</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dữ</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liệu</a:t>
            </a:r>
            <a:endParaRPr lang="en-US" sz="5000" dirty="0">
              <a:solidFill>
                <a:srgbClr val="000000"/>
              </a:solidFill>
              <a:latin typeface="Paytone One"/>
              <a:ea typeface="Paytone One"/>
              <a:cs typeface="Paytone One"/>
              <a:sym typeface="Paytone One"/>
            </a:endParaRPr>
          </a:p>
        </p:txBody>
      </p:sp>
      <p:sp>
        <p:nvSpPr>
          <p:cNvPr id="7" name="TextBox 7"/>
          <p:cNvSpPr txBox="1"/>
          <p:nvPr/>
        </p:nvSpPr>
        <p:spPr>
          <a:xfrm>
            <a:off x="1028700" y="2310181"/>
            <a:ext cx="1943100"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Movielens</a:t>
            </a:r>
            <a:endParaRPr lang="en-US" sz="3000" dirty="0">
              <a:solidFill>
                <a:srgbClr val="000000"/>
              </a:solidFill>
              <a:latin typeface="Paytone One"/>
              <a:ea typeface="Paytone One"/>
              <a:cs typeface="Paytone One"/>
              <a:sym typeface="Paytone On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3612842" y="4306219"/>
            <a:ext cx="11301259" cy="5523490"/>
          </a:xfrm>
          <a:custGeom>
            <a:avLst/>
            <a:gdLst/>
            <a:ahLst/>
            <a:cxnLst/>
            <a:rect l="l" t="t" r="r" b="b"/>
            <a:pathLst>
              <a:path w="11301259" h="5523490">
                <a:moveTo>
                  <a:pt x="0" y="0"/>
                </a:moveTo>
                <a:lnTo>
                  <a:pt x="11301259" y="0"/>
                </a:lnTo>
                <a:lnTo>
                  <a:pt x="11301259" y="5523490"/>
                </a:lnTo>
                <a:lnTo>
                  <a:pt x="0" y="552349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42" y="3076250"/>
            <a:ext cx="15991658" cy="1038226"/>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Vào năm 1880, 1000 tên phổ biến nhất được xuất hiện tại thời điểm này theo ảnh trên. Tỷ lệ tên Many là nhiều nhất</a:t>
            </a:r>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274779"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1. </a:t>
            </a:r>
            <a:r>
              <a:rPr lang="en-US" sz="5000" dirty="0" err="1">
                <a:solidFill>
                  <a:srgbClr val="000000"/>
                </a:solidFill>
                <a:latin typeface="Paytone One"/>
                <a:ea typeface="Paytone One"/>
                <a:cs typeface="Paytone One"/>
                <a:sym typeface="Paytone One"/>
              </a:rPr>
              <a:t>Giới</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thiệu</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tổng</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quát</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về</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dữ</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liệu</a:t>
            </a:r>
            <a:endParaRPr lang="en-US" sz="5000" dirty="0">
              <a:solidFill>
                <a:srgbClr val="000000"/>
              </a:solidFill>
              <a:latin typeface="Paytone One"/>
              <a:ea typeface="Paytone One"/>
              <a:cs typeface="Paytone One"/>
              <a:sym typeface="Paytone One"/>
            </a:endParaRPr>
          </a:p>
        </p:txBody>
      </p:sp>
      <p:sp>
        <p:nvSpPr>
          <p:cNvPr id="7" name="TextBox 7"/>
          <p:cNvSpPr txBox="1"/>
          <p:nvPr/>
        </p:nvSpPr>
        <p:spPr>
          <a:xfrm>
            <a:off x="1028700" y="2310181"/>
            <a:ext cx="1943100"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Movielens</a:t>
            </a:r>
            <a:endParaRPr lang="en-US" sz="3000" dirty="0">
              <a:solidFill>
                <a:srgbClr val="000000"/>
              </a:solidFill>
              <a:latin typeface="Paytone One"/>
              <a:ea typeface="Paytone One"/>
              <a:cs typeface="Paytone One"/>
              <a:sym typeface="Paytone On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7265582" y="4152575"/>
            <a:ext cx="8809412" cy="5814212"/>
          </a:xfrm>
          <a:custGeom>
            <a:avLst/>
            <a:gdLst/>
            <a:ahLst/>
            <a:cxnLst/>
            <a:rect l="l" t="t" r="r" b="b"/>
            <a:pathLst>
              <a:path w="8809412" h="5814212">
                <a:moveTo>
                  <a:pt x="0" y="0"/>
                </a:moveTo>
                <a:lnTo>
                  <a:pt x="8809412" y="0"/>
                </a:lnTo>
                <a:lnTo>
                  <a:pt x="8809412" y="5814212"/>
                </a:lnTo>
                <a:lnTo>
                  <a:pt x="0" y="581421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42" y="3076250"/>
            <a:ext cx="15991658" cy="2085976"/>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Từ những năm 1880 đến cuối năm 1933 thì số lượng Female chiếm đa số, tuy nhiên có sự biến động và chuyển biến từ năm 1950 đến hiện tại của nghiên cứu thì số lượng Male lại chiếm ưu thế.</a:t>
            </a:r>
          </a:p>
          <a:p>
            <a:pPr algn="l">
              <a:lnSpc>
                <a:spcPts val="4199"/>
              </a:lnSpc>
            </a:pPr>
            <a:endParaRPr lang="en-US" sz="2999" b="1">
              <a:solidFill>
                <a:srgbClr val="000000"/>
              </a:solidFill>
              <a:latin typeface="Arial Bold"/>
              <a:ea typeface="Arial Bold"/>
              <a:cs typeface="Arial Bold"/>
              <a:sym typeface="Arial Bold"/>
            </a:endParaRPr>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186359" cy="854075"/>
          </a:xfrm>
          <a:prstGeom prst="rect">
            <a:avLst/>
          </a:prstGeom>
        </p:spPr>
        <p:txBody>
          <a:bodyPr lIns="0" tIns="0" rIns="0" bIns="0" rtlCol="0" anchor="t">
            <a:spAutoFit/>
          </a:bodyPr>
          <a:lstStyle/>
          <a:p>
            <a:pPr algn="ctr">
              <a:lnSpc>
                <a:spcPts val="7000"/>
              </a:lnSpc>
              <a:spcBef>
                <a:spcPct val="0"/>
              </a:spcBef>
            </a:pPr>
            <a:r>
              <a:rPr lang="en-US" sz="5000">
                <a:solidFill>
                  <a:srgbClr val="000000"/>
                </a:solidFill>
                <a:latin typeface="Paytone One"/>
                <a:ea typeface="Paytone One"/>
                <a:cs typeface="Paytone One"/>
                <a:sym typeface="Paytone One"/>
              </a:rPr>
              <a:t>2. Phân tích khám phá</a:t>
            </a:r>
          </a:p>
        </p:txBody>
      </p:sp>
      <p:sp>
        <p:nvSpPr>
          <p:cNvPr id="7" name="TextBox 7"/>
          <p:cNvSpPr txBox="1"/>
          <p:nvPr/>
        </p:nvSpPr>
        <p:spPr>
          <a:xfrm>
            <a:off x="1028700" y="2310181"/>
            <a:ext cx="2019300"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Movielens</a:t>
            </a:r>
            <a:endParaRPr lang="en-US" sz="3000" dirty="0">
              <a:solidFill>
                <a:srgbClr val="000000"/>
              </a:solidFill>
              <a:latin typeface="Paytone One"/>
              <a:ea typeface="Paytone One"/>
              <a:cs typeface="Paytone One"/>
              <a:sym typeface="Paytone On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5271146" y="3142925"/>
            <a:ext cx="7745709" cy="6879610"/>
          </a:xfrm>
          <a:custGeom>
            <a:avLst/>
            <a:gdLst/>
            <a:ahLst/>
            <a:cxnLst/>
            <a:rect l="l" t="t" r="r" b="b"/>
            <a:pathLst>
              <a:path w="7745709" h="6879610">
                <a:moveTo>
                  <a:pt x="0" y="0"/>
                </a:moveTo>
                <a:lnTo>
                  <a:pt x="7745708" y="0"/>
                </a:lnTo>
                <a:lnTo>
                  <a:pt x="7745708" y="6879610"/>
                </a:lnTo>
                <a:lnTo>
                  <a:pt x="0" y="6879610"/>
                </a:lnTo>
                <a:lnTo>
                  <a:pt x="0" y="0"/>
                </a:lnTo>
                <a:close/>
              </a:path>
            </a:pathLst>
          </a:custGeom>
          <a:blipFill>
            <a:blip r:embed="rId3"/>
            <a:stretch>
              <a:fillRect t="-2283" b="-2283"/>
            </a:stretch>
          </a:blipFill>
        </p:spPr>
        <p:txBody>
          <a:bodyPr/>
          <a:lstStyle/>
          <a:p>
            <a:endParaRPr lang="en-US"/>
          </a:p>
        </p:txBody>
      </p:sp>
      <p:sp>
        <p:nvSpPr>
          <p:cNvPr id="4" name="TextBox 4"/>
          <p:cNvSpPr txBox="1"/>
          <p:nvPr/>
        </p:nvSpPr>
        <p:spPr>
          <a:xfrm>
            <a:off x="1267642" y="3076250"/>
            <a:ext cx="15991658" cy="1562101"/>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Đây là 4 cái tên có số lượng đặt nhiều nhất và tùy vào những năm sẽ có sự phân bố giữa các loại tên này.</a:t>
            </a:r>
          </a:p>
          <a:p>
            <a:pPr algn="l">
              <a:lnSpc>
                <a:spcPts val="4199"/>
              </a:lnSpc>
            </a:pPr>
            <a:endParaRPr lang="en-US" sz="2999" b="1">
              <a:solidFill>
                <a:srgbClr val="000000"/>
              </a:solidFill>
              <a:latin typeface="Arial Bold"/>
              <a:ea typeface="Arial Bold"/>
              <a:cs typeface="Arial Bold"/>
              <a:sym typeface="Arial Bold"/>
            </a:endParaRPr>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186359" cy="854075"/>
          </a:xfrm>
          <a:prstGeom prst="rect">
            <a:avLst/>
          </a:prstGeom>
        </p:spPr>
        <p:txBody>
          <a:bodyPr lIns="0" tIns="0" rIns="0" bIns="0" rtlCol="0" anchor="t">
            <a:spAutoFit/>
          </a:bodyPr>
          <a:lstStyle/>
          <a:p>
            <a:pPr algn="ctr">
              <a:lnSpc>
                <a:spcPts val="7000"/>
              </a:lnSpc>
              <a:spcBef>
                <a:spcPct val="0"/>
              </a:spcBef>
            </a:pPr>
            <a:r>
              <a:rPr lang="en-US" sz="5000">
                <a:solidFill>
                  <a:srgbClr val="000000"/>
                </a:solidFill>
                <a:latin typeface="Paytone One"/>
                <a:ea typeface="Paytone One"/>
                <a:cs typeface="Paytone One"/>
                <a:sym typeface="Paytone One"/>
              </a:rPr>
              <a:t>2. Phân tích khám phá</a:t>
            </a:r>
          </a:p>
        </p:txBody>
      </p:sp>
      <p:sp>
        <p:nvSpPr>
          <p:cNvPr id="7" name="TextBox 7"/>
          <p:cNvSpPr txBox="1"/>
          <p:nvPr/>
        </p:nvSpPr>
        <p:spPr>
          <a:xfrm>
            <a:off x="1028700" y="2310181"/>
            <a:ext cx="1943100"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Movielens</a:t>
            </a:r>
            <a:endParaRPr lang="en-US" sz="3000" dirty="0">
              <a:solidFill>
                <a:srgbClr val="000000"/>
              </a:solidFill>
              <a:latin typeface="Paytone One"/>
              <a:ea typeface="Paytone One"/>
              <a:cs typeface="Paytone One"/>
              <a:sym typeface="Paytone On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4838729" y="4310481"/>
            <a:ext cx="8849483" cy="5807473"/>
          </a:xfrm>
          <a:custGeom>
            <a:avLst/>
            <a:gdLst/>
            <a:ahLst/>
            <a:cxnLst/>
            <a:rect l="l" t="t" r="r" b="b"/>
            <a:pathLst>
              <a:path w="8849483" h="5807473">
                <a:moveTo>
                  <a:pt x="0" y="0"/>
                </a:moveTo>
                <a:lnTo>
                  <a:pt x="8849484" y="0"/>
                </a:lnTo>
                <a:lnTo>
                  <a:pt x="8849484" y="5807473"/>
                </a:lnTo>
                <a:lnTo>
                  <a:pt x="0" y="580747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42" y="3076250"/>
            <a:ext cx="15991658" cy="1038226"/>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Ngoài ra tỷ lệ top 50% dân số dành cho Female, điều này có thể thấy rằng đa số mọi người sẽ đẻ con là con gái hơn là con trai.</a:t>
            </a:r>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186359" cy="854075"/>
          </a:xfrm>
          <a:prstGeom prst="rect">
            <a:avLst/>
          </a:prstGeom>
        </p:spPr>
        <p:txBody>
          <a:bodyPr lIns="0" tIns="0" rIns="0" bIns="0" rtlCol="0" anchor="t">
            <a:spAutoFit/>
          </a:bodyPr>
          <a:lstStyle/>
          <a:p>
            <a:pPr algn="ctr">
              <a:lnSpc>
                <a:spcPts val="7000"/>
              </a:lnSpc>
              <a:spcBef>
                <a:spcPct val="0"/>
              </a:spcBef>
            </a:pPr>
            <a:r>
              <a:rPr lang="en-US" sz="5000">
                <a:solidFill>
                  <a:srgbClr val="000000"/>
                </a:solidFill>
                <a:latin typeface="Paytone One"/>
                <a:ea typeface="Paytone One"/>
                <a:cs typeface="Paytone One"/>
                <a:sym typeface="Paytone One"/>
              </a:rPr>
              <a:t>2. Phân tích khám phá</a:t>
            </a:r>
          </a:p>
        </p:txBody>
      </p:sp>
      <p:sp>
        <p:nvSpPr>
          <p:cNvPr id="7" name="TextBox 7"/>
          <p:cNvSpPr txBox="1"/>
          <p:nvPr/>
        </p:nvSpPr>
        <p:spPr>
          <a:xfrm>
            <a:off x="1028700" y="2310181"/>
            <a:ext cx="1943100" cy="514350"/>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000000"/>
                </a:solidFill>
                <a:latin typeface="Paytone One"/>
                <a:ea typeface="Paytone One"/>
                <a:cs typeface="Paytone One"/>
                <a:sym typeface="Paytone One"/>
              </a:rPr>
              <a:t>Movielens</a:t>
            </a:r>
            <a:endParaRPr lang="en-US" sz="3000" dirty="0">
              <a:solidFill>
                <a:srgbClr val="000000"/>
              </a:solidFill>
              <a:latin typeface="Paytone One"/>
              <a:ea typeface="Paytone One"/>
              <a:cs typeface="Paytone One"/>
              <a:sym typeface="Paytone On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4050821" y="5143500"/>
            <a:ext cx="9617166" cy="3729649"/>
          </a:xfrm>
          <a:custGeom>
            <a:avLst/>
            <a:gdLst/>
            <a:ahLst/>
            <a:cxnLst/>
            <a:rect l="l" t="t" r="r" b="b"/>
            <a:pathLst>
              <a:path w="9617166" h="3729649">
                <a:moveTo>
                  <a:pt x="0" y="0"/>
                </a:moveTo>
                <a:lnTo>
                  <a:pt x="9617166" y="0"/>
                </a:lnTo>
                <a:lnTo>
                  <a:pt x="9617166" y="3729649"/>
                </a:lnTo>
                <a:lnTo>
                  <a:pt x="0" y="372964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42" y="3076250"/>
            <a:ext cx="15991658" cy="2085976"/>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USDA Food Database Tập dữ liệu này là cơ sở dữ liệu về thông tin dinh dưỡng thực phẩm của US Department of Agriculture (USDA) (Bộ Nông nghiệp Hoa Kỳ). Lập trình viên Ashley Williams đã tạo ra một phiên bản của cơ sở dữ liệu này ở định dạng JSON.</a:t>
            </a:r>
          </a:p>
          <a:p>
            <a:pPr algn="l">
              <a:lnSpc>
                <a:spcPts val="4199"/>
              </a:lnSpc>
            </a:pPr>
            <a:endParaRPr lang="en-US" sz="2999" b="1">
              <a:solidFill>
                <a:srgbClr val="000000"/>
              </a:solidFill>
              <a:latin typeface="Arial Bold"/>
              <a:ea typeface="Arial Bold"/>
              <a:cs typeface="Arial Bold"/>
              <a:sym typeface="Arial Bold"/>
            </a:endParaRPr>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274779"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1. </a:t>
            </a:r>
            <a:r>
              <a:rPr lang="en-US" sz="5000" dirty="0" err="1">
                <a:solidFill>
                  <a:srgbClr val="000000"/>
                </a:solidFill>
                <a:latin typeface="Paytone One"/>
                <a:ea typeface="Paytone One"/>
                <a:cs typeface="Paytone One"/>
                <a:sym typeface="Paytone One"/>
              </a:rPr>
              <a:t>Giới</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thiệu</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tổng</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quát</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về</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dữ</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liệu</a:t>
            </a:r>
            <a:endParaRPr lang="en-US" sz="5000" dirty="0">
              <a:solidFill>
                <a:srgbClr val="000000"/>
              </a:solidFill>
              <a:latin typeface="Paytone One"/>
              <a:ea typeface="Paytone One"/>
              <a:cs typeface="Paytone One"/>
              <a:sym typeface="Paytone One"/>
            </a:endParaRPr>
          </a:p>
        </p:txBody>
      </p:sp>
      <p:sp>
        <p:nvSpPr>
          <p:cNvPr id="7" name="TextBox 7"/>
          <p:cNvSpPr txBox="1"/>
          <p:nvPr/>
        </p:nvSpPr>
        <p:spPr>
          <a:xfrm>
            <a:off x="1028700" y="2310181"/>
            <a:ext cx="2171700" cy="514350"/>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Paytone One"/>
                <a:ea typeface="Paytone One"/>
                <a:cs typeface="Paytone One"/>
                <a:sym typeface="Paytone One"/>
              </a:rPr>
              <a:t>USDA Food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6570418" y="2644435"/>
            <a:ext cx="10945273" cy="4998130"/>
          </a:xfrm>
          <a:custGeom>
            <a:avLst/>
            <a:gdLst/>
            <a:ahLst/>
            <a:cxnLst/>
            <a:rect l="l" t="t" r="r" b="b"/>
            <a:pathLst>
              <a:path w="10945273" h="4998130">
                <a:moveTo>
                  <a:pt x="0" y="0"/>
                </a:moveTo>
                <a:lnTo>
                  <a:pt x="10945273" y="0"/>
                </a:lnTo>
                <a:lnTo>
                  <a:pt x="10945273" y="4998130"/>
                </a:lnTo>
                <a:lnTo>
                  <a:pt x="0" y="499813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42" y="3126653"/>
            <a:ext cx="5046385" cy="3938444"/>
          </a:xfrm>
          <a:prstGeom prst="rect">
            <a:avLst/>
          </a:prstGeom>
        </p:spPr>
        <p:txBody>
          <a:bodyPr lIns="0" tIns="0" rIns="0" bIns="0" rtlCol="0" anchor="t">
            <a:spAutoFit/>
          </a:bodyPr>
          <a:lstStyle/>
          <a:p>
            <a:pPr algn="l">
              <a:lnSpc>
                <a:spcPts val="5262"/>
              </a:lnSpc>
            </a:pPr>
            <a:r>
              <a:rPr lang="en-US" sz="3759" b="1">
                <a:solidFill>
                  <a:srgbClr val="000000"/>
                </a:solidFill>
                <a:latin typeface="Arial Bold"/>
                <a:ea typeface="Arial Bold"/>
                <a:cs typeface="Arial Bold"/>
                <a:sym typeface="Arial Bold"/>
              </a:rPr>
              <a:t>Bộ dữ liệu bao gồm 4 cột và 6636 dòng, cột manudacturer là cột duy nhất bị </a:t>
            </a:r>
          </a:p>
          <a:p>
            <a:pPr algn="l">
              <a:lnSpc>
                <a:spcPts val="5262"/>
              </a:lnSpc>
            </a:pPr>
            <a:r>
              <a:rPr lang="en-US" sz="3759" b="1">
                <a:solidFill>
                  <a:srgbClr val="000000"/>
                </a:solidFill>
                <a:latin typeface="Arial Bold"/>
                <a:ea typeface="Arial Bold"/>
                <a:cs typeface="Arial Bold"/>
                <a:sym typeface="Arial Bold"/>
              </a:rPr>
              <a:t>missing values</a:t>
            </a:r>
          </a:p>
          <a:p>
            <a:pPr algn="l">
              <a:lnSpc>
                <a:spcPts val="5262"/>
              </a:lnSpc>
            </a:pPr>
            <a:endParaRPr lang="en-US" sz="3759" b="1">
              <a:solidFill>
                <a:srgbClr val="000000"/>
              </a:solidFill>
              <a:latin typeface="Arial Bold"/>
              <a:ea typeface="Arial Bold"/>
              <a:cs typeface="Arial Bold"/>
              <a:sym typeface="Arial Bold"/>
            </a:endParaRPr>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198579" cy="854075"/>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Paytone One"/>
                <a:ea typeface="Paytone One"/>
                <a:cs typeface="Paytone One"/>
                <a:sym typeface="Paytone One"/>
              </a:rPr>
              <a:t>1. </a:t>
            </a:r>
            <a:r>
              <a:rPr lang="en-US" sz="5000" dirty="0" err="1">
                <a:solidFill>
                  <a:srgbClr val="000000"/>
                </a:solidFill>
                <a:latin typeface="Paytone One"/>
                <a:ea typeface="Paytone One"/>
                <a:cs typeface="Paytone One"/>
                <a:sym typeface="Paytone One"/>
              </a:rPr>
              <a:t>Giới</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thiệu</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tổng</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quát</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về</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dữ</a:t>
            </a:r>
            <a:r>
              <a:rPr lang="en-US" sz="5000" dirty="0">
                <a:solidFill>
                  <a:srgbClr val="000000"/>
                </a:solidFill>
                <a:latin typeface="Paytone One"/>
                <a:ea typeface="Paytone One"/>
                <a:cs typeface="Paytone One"/>
                <a:sym typeface="Paytone One"/>
              </a:rPr>
              <a:t> </a:t>
            </a:r>
            <a:r>
              <a:rPr lang="en-US" sz="5000" dirty="0" err="1">
                <a:solidFill>
                  <a:srgbClr val="000000"/>
                </a:solidFill>
                <a:latin typeface="Paytone One"/>
                <a:ea typeface="Paytone One"/>
                <a:cs typeface="Paytone One"/>
                <a:sym typeface="Paytone One"/>
              </a:rPr>
              <a:t>liệu</a:t>
            </a:r>
            <a:endParaRPr lang="en-US" sz="5000" dirty="0">
              <a:solidFill>
                <a:srgbClr val="000000"/>
              </a:solidFill>
              <a:latin typeface="Paytone One"/>
              <a:ea typeface="Paytone One"/>
              <a:cs typeface="Paytone One"/>
              <a:sym typeface="Paytone One"/>
            </a:endParaRPr>
          </a:p>
        </p:txBody>
      </p:sp>
      <p:sp>
        <p:nvSpPr>
          <p:cNvPr id="7" name="TextBox 7"/>
          <p:cNvSpPr txBox="1"/>
          <p:nvPr/>
        </p:nvSpPr>
        <p:spPr>
          <a:xfrm>
            <a:off x="1028700" y="2310181"/>
            <a:ext cx="2171700" cy="514350"/>
          </a:xfrm>
          <a:prstGeom prst="rect">
            <a:avLst/>
          </a:prstGeom>
        </p:spPr>
        <p:txBody>
          <a:bodyPr wrap="square" lIns="0" tIns="0" rIns="0" bIns="0" rtlCol="0" anchor="t">
            <a:spAutoFit/>
          </a:bodyPr>
          <a:lstStyle/>
          <a:p>
            <a:pPr algn="ctr">
              <a:lnSpc>
                <a:spcPts val="4200"/>
              </a:lnSpc>
              <a:spcBef>
                <a:spcPct val="0"/>
              </a:spcBef>
            </a:pPr>
            <a:r>
              <a:rPr lang="en-US" sz="3000">
                <a:solidFill>
                  <a:srgbClr val="000000"/>
                </a:solidFill>
                <a:latin typeface="Paytone One"/>
                <a:ea typeface="Paytone One"/>
                <a:cs typeface="Paytone One"/>
                <a:sym typeface="Paytone One"/>
              </a:rPr>
              <a:t>USDA Food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Freeform 3"/>
          <p:cNvSpPr/>
          <p:nvPr/>
        </p:nvSpPr>
        <p:spPr>
          <a:xfrm>
            <a:off x="2967207" y="3904926"/>
            <a:ext cx="12353586" cy="5837069"/>
          </a:xfrm>
          <a:custGeom>
            <a:avLst/>
            <a:gdLst/>
            <a:ahLst/>
            <a:cxnLst/>
            <a:rect l="l" t="t" r="r" b="b"/>
            <a:pathLst>
              <a:path w="12353586" h="5837069">
                <a:moveTo>
                  <a:pt x="0" y="0"/>
                </a:moveTo>
                <a:lnTo>
                  <a:pt x="12353586" y="0"/>
                </a:lnTo>
                <a:lnTo>
                  <a:pt x="12353586" y="5837069"/>
                </a:lnTo>
                <a:lnTo>
                  <a:pt x="0" y="583706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42" y="3076250"/>
            <a:ext cx="15991658" cy="514351"/>
          </a:xfrm>
          <a:prstGeom prst="rect">
            <a:avLst/>
          </a:prstGeom>
        </p:spPr>
        <p:txBody>
          <a:bodyPr lIns="0" tIns="0" rIns="0" bIns="0" rtlCol="0" anchor="t">
            <a:spAutoFit/>
          </a:bodyPr>
          <a:lstStyle/>
          <a:p>
            <a:pPr algn="l">
              <a:lnSpc>
                <a:spcPts val="4199"/>
              </a:lnSpc>
            </a:pPr>
            <a:r>
              <a:rPr lang="en-US" sz="2999" b="1">
                <a:solidFill>
                  <a:srgbClr val="000000"/>
                </a:solidFill>
                <a:latin typeface="Arial Bold"/>
                <a:ea typeface="Arial Bold"/>
                <a:cs typeface="Arial Bold"/>
                <a:sym typeface="Arial Bold"/>
              </a:rPr>
              <a:t>Chất lượng dinh dưỡng của thịt bò là nhiều nhất, tiếp theo là dê, bò sữa…</a:t>
            </a:r>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4050821" y="933450"/>
            <a:ext cx="10186359" cy="854075"/>
          </a:xfrm>
          <a:prstGeom prst="rect">
            <a:avLst/>
          </a:prstGeom>
        </p:spPr>
        <p:txBody>
          <a:bodyPr lIns="0" tIns="0" rIns="0" bIns="0" rtlCol="0" anchor="t">
            <a:spAutoFit/>
          </a:bodyPr>
          <a:lstStyle/>
          <a:p>
            <a:pPr algn="ctr">
              <a:lnSpc>
                <a:spcPts val="7000"/>
              </a:lnSpc>
              <a:spcBef>
                <a:spcPct val="0"/>
              </a:spcBef>
            </a:pPr>
            <a:r>
              <a:rPr lang="en-US" sz="5000">
                <a:solidFill>
                  <a:srgbClr val="000000"/>
                </a:solidFill>
                <a:latin typeface="Paytone One"/>
                <a:ea typeface="Paytone One"/>
                <a:cs typeface="Paytone One"/>
                <a:sym typeface="Paytone One"/>
              </a:rPr>
              <a:t>2. Phân tích khám phá</a:t>
            </a:r>
          </a:p>
        </p:txBody>
      </p:sp>
      <p:sp>
        <p:nvSpPr>
          <p:cNvPr id="7" name="TextBox 7"/>
          <p:cNvSpPr txBox="1"/>
          <p:nvPr/>
        </p:nvSpPr>
        <p:spPr>
          <a:xfrm>
            <a:off x="941705" y="2310181"/>
            <a:ext cx="2182495" cy="514350"/>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Paytone One"/>
                <a:ea typeface="Paytone One"/>
                <a:cs typeface="Paytone One"/>
                <a:sym typeface="Paytone One"/>
              </a:rPr>
              <a:t>USDA Food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585468" y="2274568"/>
            <a:ext cx="17117063" cy="6983732"/>
          </a:xfrm>
          <a:prstGeom prst="rect">
            <a:avLst/>
          </a:prstGeom>
        </p:spPr>
        <p:txBody>
          <a:bodyPr lIns="0" tIns="0" rIns="0" bIns="0" rtlCol="0" anchor="t">
            <a:spAutoFit/>
          </a:bodyPr>
          <a:lstStyle/>
          <a:p>
            <a:pPr algn="l">
              <a:lnSpc>
                <a:spcPts val="4619"/>
              </a:lnSpc>
            </a:pPr>
            <a:r>
              <a:rPr lang="en-US" sz="3299">
                <a:solidFill>
                  <a:srgbClr val="000000"/>
                </a:solidFill>
                <a:latin typeface="Arial"/>
                <a:ea typeface="Arial"/>
                <a:cs typeface="Arial"/>
                <a:sym typeface="Arial"/>
              </a:rPr>
              <a:t>Dựa trên các phát hiện sau khi đã khám phá, thì chúng ta cần tập trung quan sát các yếu tố ảnh hưởng mạnh đến chất lượng của rượu (Volatile_acidity, </a:t>
            </a:r>
          </a:p>
          <a:p>
            <a:pPr algn="l">
              <a:lnSpc>
                <a:spcPts val="4619"/>
              </a:lnSpc>
            </a:pPr>
            <a:endParaRPr lang="en-US" sz="3299">
              <a:solidFill>
                <a:srgbClr val="000000"/>
              </a:solidFill>
              <a:latin typeface="Arial"/>
              <a:ea typeface="Arial"/>
              <a:cs typeface="Arial"/>
              <a:sym typeface="Arial"/>
            </a:endParaRPr>
          </a:p>
          <a:p>
            <a:pPr algn="l">
              <a:lnSpc>
                <a:spcPts val="4619"/>
              </a:lnSpc>
            </a:pPr>
            <a:endParaRPr lang="en-US" sz="3299">
              <a:solidFill>
                <a:srgbClr val="000000"/>
              </a:solidFill>
              <a:latin typeface="Arial"/>
              <a:ea typeface="Arial"/>
              <a:cs typeface="Arial"/>
              <a:sym typeface="Arial"/>
            </a:endParaRPr>
          </a:p>
          <a:p>
            <a:pPr algn="l">
              <a:lnSpc>
                <a:spcPts val="4619"/>
              </a:lnSpc>
            </a:pPr>
            <a:endParaRPr lang="en-US" sz="3299">
              <a:solidFill>
                <a:srgbClr val="000000"/>
              </a:solidFill>
              <a:latin typeface="Arial"/>
              <a:ea typeface="Arial"/>
              <a:cs typeface="Arial"/>
              <a:sym typeface="Arial"/>
            </a:endParaRPr>
          </a:p>
          <a:p>
            <a:pPr algn="l">
              <a:lnSpc>
                <a:spcPts val="4619"/>
              </a:lnSpc>
            </a:pPr>
            <a:endParaRPr lang="en-US" sz="3299">
              <a:solidFill>
                <a:srgbClr val="000000"/>
              </a:solidFill>
              <a:latin typeface="Arial"/>
              <a:ea typeface="Arial"/>
              <a:cs typeface="Arial"/>
              <a:sym typeface="Arial"/>
            </a:endParaRPr>
          </a:p>
          <a:p>
            <a:pPr algn="l">
              <a:lnSpc>
                <a:spcPts val="4619"/>
              </a:lnSpc>
            </a:pPr>
            <a:endParaRPr lang="en-US" sz="3299">
              <a:solidFill>
                <a:srgbClr val="000000"/>
              </a:solidFill>
              <a:latin typeface="Arial"/>
              <a:ea typeface="Arial"/>
              <a:cs typeface="Arial"/>
              <a:sym typeface="Arial"/>
            </a:endParaRPr>
          </a:p>
          <a:p>
            <a:pPr algn="l">
              <a:lnSpc>
                <a:spcPts val="4619"/>
              </a:lnSpc>
            </a:pPr>
            <a:endParaRPr lang="en-US" sz="3299">
              <a:solidFill>
                <a:srgbClr val="000000"/>
              </a:solidFill>
              <a:latin typeface="Arial"/>
              <a:ea typeface="Arial"/>
              <a:cs typeface="Arial"/>
              <a:sym typeface="Arial"/>
            </a:endParaRPr>
          </a:p>
          <a:p>
            <a:pPr algn="l">
              <a:lnSpc>
                <a:spcPts val="4619"/>
              </a:lnSpc>
            </a:pPr>
            <a:endParaRPr lang="en-US" sz="3299">
              <a:solidFill>
                <a:srgbClr val="000000"/>
              </a:solidFill>
              <a:latin typeface="Arial"/>
              <a:ea typeface="Arial"/>
              <a:cs typeface="Arial"/>
              <a:sym typeface="Arial"/>
            </a:endParaRPr>
          </a:p>
          <a:p>
            <a:pPr algn="l">
              <a:lnSpc>
                <a:spcPts val="4619"/>
              </a:lnSpc>
            </a:pPr>
            <a:r>
              <a:rPr lang="en-US" sz="3299">
                <a:solidFill>
                  <a:srgbClr val="000000"/>
                </a:solidFill>
                <a:latin typeface="Arial"/>
                <a:ea typeface="Arial"/>
                <a:cs typeface="Arial"/>
                <a:sym typeface="Arial"/>
              </a:rPr>
              <a:t>Ngoài ra cũng cần xem xét các yếu tố ít ảnh hưởng, vì chúng cũng có thể là mối nguy cơ ảnh hưởng đến chất lượng của rượu (giả sử như đảm bảo lượng SO2 phù hợp để đảm bảo sức khỏe người dùng, ...)</a:t>
            </a:r>
          </a:p>
        </p:txBody>
      </p:sp>
      <p:sp>
        <p:nvSpPr>
          <p:cNvPr id="4" name="Freeform 4"/>
          <p:cNvSpPr/>
          <p:nvPr/>
        </p:nvSpPr>
        <p:spPr>
          <a:xfrm>
            <a:off x="3513924" y="4067336"/>
            <a:ext cx="11260151" cy="3004615"/>
          </a:xfrm>
          <a:custGeom>
            <a:avLst/>
            <a:gdLst/>
            <a:ahLst/>
            <a:cxnLst/>
            <a:rect l="l" t="t" r="r" b="b"/>
            <a:pathLst>
              <a:path w="11260151" h="3004615">
                <a:moveTo>
                  <a:pt x="0" y="0"/>
                </a:moveTo>
                <a:lnTo>
                  <a:pt x="11260152" y="0"/>
                </a:lnTo>
                <a:lnTo>
                  <a:pt x="11260152" y="3004615"/>
                </a:lnTo>
                <a:lnTo>
                  <a:pt x="0" y="3004615"/>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6" name="TextBox 6"/>
          <p:cNvSpPr txBox="1"/>
          <p:nvPr/>
        </p:nvSpPr>
        <p:spPr>
          <a:xfrm>
            <a:off x="3988823" y="933450"/>
            <a:ext cx="10310354" cy="854075"/>
          </a:xfrm>
          <a:prstGeom prst="rect">
            <a:avLst/>
          </a:prstGeom>
        </p:spPr>
        <p:txBody>
          <a:bodyPr lIns="0" tIns="0" rIns="0" bIns="0" rtlCol="0" anchor="t">
            <a:spAutoFit/>
          </a:bodyPr>
          <a:lstStyle/>
          <a:p>
            <a:pPr algn="ctr">
              <a:lnSpc>
                <a:spcPts val="7000"/>
              </a:lnSpc>
              <a:spcBef>
                <a:spcPct val="0"/>
              </a:spcBef>
            </a:pPr>
            <a:r>
              <a:rPr lang="en-US" sz="5000">
                <a:solidFill>
                  <a:srgbClr val="000000"/>
                </a:solidFill>
                <a:latin typeface="Paytone One"/>
                <a:ea typeface="Paytone One"/>
                <a:cs typeface="Paytone One"/>
                <a:sym typeface="Paytone One"/>
              </a:rPr>
              <a:t>3. Kết luận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8793" y="177953"/>
            <a:ext cx="1399814" cy="1391861"/>
          </a:xfrm>
          <a:custGeom>
            <a:avLst/>
            <a:gdLst/>
            <a:ahLst/>
            <a:cxnLst/>
            <a:rect l="l" t="t" r="r" b="b"/>
            <a:pathLst>
              <a:path w="1399814" h="1391861">
                <a:moveTo>
                  <a:pt x="0" y="0"/>
                </a:moveTo>
                <a:lnTo>
                  <a:pt x="1399814" y="0"/>
                </a:lnTo>
                <a:lnTo>
                  <a:pt x="1399814" y="1391861"/>
                </a:lnTo>
                <a:lnTo>
                  <a:pt x="0" y="139186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5551994" y="-28575"/>
            <a:ext cx="7184012" cy="682626"/>
          </a:xfrm>
          <a:prstGeom prst="rect">
            <a:avLst/>
          </a:prstGeom>
        </p:spPr>
        <p:txBody>
          <a:bodyPr lIns="0" tIns="0" rIns="0" bIns="0" rtlCol="0" anchor="t">
            <a:spAutoFit/>
          </a:bodyPr>
          <a:lstStyle/>
          <a:p>
            <a:pPr algn="ctr">
              <a:lnSpc>
                <a:spcPts val="2799"/>
              </a:lnSpc>
              <a:spcBef>
                <a:spcPct val="0"/>
              </a:spcBef>
            </a:pPr>
            <a:endParaRPr/>
          </a:p>
          <a:p>
            <a:pPr algn="ctr">
              <a:lnSpc>
                <a:spcPts val="2799"/>
              </a:lnSpc>
              <a:spcBef>
                <a:spcPct val="0"/>
              </a:spcBef>
            </a:pPr>
            <a:r>
              <a:rPr lang="en-US" sz="1999">
                <a:solidFill>
                  <a:srgbClr val="000000"/>
                </a:solidFill>
                <a:latin typeface="Paytone One"/>
                <a:ea typeface="Paytone One"/>
                <a:cs typeface="Paytone One"/>
                <a:sym typeface="Paytone One"/>
              </a:rPr>
              <a:t>TRƯỜNG ĐẠI HỌC SÀI GÒN KHOA CÔNG NGHỆ THÔNG TIN</a:t>
            </a:r>
          </a:p>
        </p:txBody>
      </p:sp>
      <p:sp>
        <p:nvSpPr>
          <p:cNvPr id="4" name="TextBox 4"/>
          <p:cNvSpPr txBox="1"/>
          <p:nvPr/>
        </p:nvSpPr>
        <p:spPr>
          <a:xfrm>
            <a:off x="4251732" y="3274159"/>
            <a:ext cx="9784536" cy="3548182"/>
          </a:xfrm>
          <a:prstGeom prst="rect">
            <a:avLst/>
          </a:prstGeom>
        </p:spPr>
        <p:txBody>
          <a:bodyPr lIns="0" tIns="0" rIns="0" bIns="0" rtlCol="0" anchor="t">
            <a:spAutoFit/>
          </a:bodyPr>
          <a:lstStyle/>
          <a:p>
            <a:pPr algn="ctr">
              <a:lnSpc>
                <a:spcPts val="14374"/>
              </a:lnSpc>
              <a:spcBef>
                <a:spcPct val="0"/>
              </a:spcBef>
            </a:pPr>
            <a:r>
              <a:rPr lang="en-US" sz="10267">
                <a:solidFill>
                  <a:srgbClr val="0389E1"/>
                </a:solidFill>
                <a:latin typeface="Paytone One"/>
                <a:ea typeface="Paytone One"/>
                <a:cs typeface="Paytone One"/>
                <a:sym typeface="Paytone One"/>
              </a:rPr>
              <a:t>THANK YOU</a:t>
            </a:r>
          </a:p>
          <a:p>
            <a:pPr algn="ctr">
              <a:lnSpc>
                <a:spcPts val="14374"/>
              </a:lnSpc>
              <a:spcBef>
                <a:spcPct val="0"/>
              </a:spcBef>
            </a:pPr>
            <a:r>
              <a:rPr lang="en-US" sz="10267">
                <a:solidFill>
                  <a:srgbClr val="0389E1"/>
                </a:solidFill>
                <a:latin typeface="Paytone One"/>
                <a:ea typeface="Paytone One"/>
                <a:cs typeface="Paytone One"/>
                <a:sym typeface="Paytone One"/>
              </a:rPr>
              <a:t>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1030</Words>
  <Application>Microsoft Office PowerPoint</Application>
  <PresentationFormat>Custom</PresentationFormat>
  <Paragraphs>96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Paytone One</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KHÁM PHÁ VỀ CHẤT LƯỢNG RƯỢU VANG ĐỎ</dc:title>
  <cp:lastModifiedBy>Lương Thanh Tuấn</cp:lastModifiedBy>
  <cp:revision>2</cp:revision>
  <dcterms:created xsi:type="dcterms:W3CDTF">2006-08-16T00:00:00Z</dcterms:created>
  <dcterms:modified xsi:type="dcterms:W3CDTF">2025-10-16T16:10:56Z</dcterms:modified>
  <dc:identifier>DAG1W9yULH4</dc:identifier>
</cp:coreProperties>
</file>